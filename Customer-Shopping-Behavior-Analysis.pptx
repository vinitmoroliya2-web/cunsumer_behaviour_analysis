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Tomorrow Bold"/>
      <p:regular r:id="rId201314"/>
    </p:embeddedFont>
    <p:embeddedFont>
      <p:font typeface="Tomorrow ExtraBold"/>
      <p:regular r:id="rId201315"/>
    </p:embeddedFont>
    <p:embeddedFont>
      <p:font typeface="Tomorrow ExtraLight"/>
      <p:regular r:id="rId201316"/>
    </p:embeddedFont>
    <p:embeddedFont>
      <p:font typeface="Tomorrow Light"/>
      <p:regular r:id="rId201317"/>
    </p:embeddedFont>
    <p:embeddedFont>
      <p:font typeface="Tomorrow"/>
      <p:regular r:id="rId201318"/>
    </p:embeddedFont>
    <p:embeddedFont>
      <p:font typeface="Tomorrow Medium"/>
      <p:regular r:id="rId201319"/>
    </p:embeddedFont>
    <p:embeddedFont>
      <p:font typeface="Tomorrow SemiBold"/>
      <p:regular r:id="rId201320"/>
    </p:embeddedFont>
    <p:embeddedFont>
      <p:font typeface="Tomorrow Thin"/>
      <p:regular r:id="rId201321"/>
    </p:embeddedFont>
    <p:embeddedFont>
      <p:font typeface="Tomorr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968996"/>
            <a:ext cx="1014710" cy="266402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2011487"/>
            <a:ext cx="1301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2292102"/>
            <a:ext cx="73846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94769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Uncovering insights from 3,900 purchases using MySQL and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5655"/>
            <a:ext cx="5626075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Overview &amp; MySQL Staging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80269"/>
            <a:ext cx="2639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3,900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1095821" y="15880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824112"/>
            <a:ext cx="263924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Comprehensive transaction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52341" y="1080269"/>
            <a:ext cx="2639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18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3852044" y="15880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52341" y="1824112"/>
            <a:ext cx="263924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demographics &amp; behavior tracking keys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08563" y="1080269"/>
            <a:ext cx="2639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0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6608266" y="15880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08563" y="1824112"/>
            <a:ext cx="263924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Validated via window ranking queries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119" y="2298427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Process 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6119" y="272675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908102"/>
            <a:ext cx="2654871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99419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Staging 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230240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a copy table (csb) using CREATE TABLE LIKE for safe analysis.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4528" y="272675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4528" y="2908102"/>
            <a:ext cx="2654871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9" name="Text 17"/>
          <p:cNvSpPr/>
          <p:nvPr/>
        </p:nvSpPr>
        <p:spPr>
          <a:xfrm>
            <a:off x="3244528" y="2994199"/>
            <a:ext cx="177514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Column Standardization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4528" y="3230240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Fixed corrupted source characters by renaming tracking fields to standard Customer_id.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92937" y="272675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92937" y="2908102"/>
            <a:ext cx="2654871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3" name="Text 21"/>
          <p:cNvSpPr/>
          <p:nvPr/>
        </p:nvSpPr>
        <p:spPr>
          <a:xfrm>
            <a:off x="5992937" y="2994199"/>
            <a:ext cx="166531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Duplicate &amp; Null Audits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92937" y="3230240"/>
            <a:ext cx="265487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a ROW_NUMBER() CTE and exhaustive TRIM() queries to ensure flawless data integrity.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6119" y="3744069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6119" y="3925416"/>
            <a:ext cx="4029075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7" name="Text 25"/>
          <p:cNvSpPr/>
          <p:nvPr/>
        </p:nvSpPr>
        <p:spPr>
          <a:xfrm>
            <a:off x="496119" y="4011513"/>
            <a:ext cx="147548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119" y="4247555"/>
            <a:ext cx="402907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Leveraged CASE WHEN conditional logic to build custom age groups and numeric frequency mappings.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8732" y="3744069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8732" y="3925416"/>
            <a:ext cx="4029075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1" name="Text 29"/>
          <p:cNvSpPr/>
          <p:nvPr/>
        </p:nvSpPr>
        <p:spPr>
          <a:xfrm>
            <a:off x="4618732" y="4011513"/>
            <a:ext cx="15560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Redundancy Cleanup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8732" y="4247555"/>
            <a:ext cx="402907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Permanently dropped unused attributes (Promo Code Used) using schema alterations to streamline modeling.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405"/>
            <a:ext cx="5595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Revenue by Gender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4463"/>
            <a:ext cx="4327773" cy="2970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4531" y="139675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74531" y="1759967"/>
            <a:ext cx="3478039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Male Demographics: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$157,890 total revenue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Female Demographics: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$75,191 total revenue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74531" y="2422624"/>
            <a:ext cx="3478039" cy="1233190"/>
          </a:xfrm>
          <a:prstGeom prst="roundRect">
            <a:avLst>
              <a:gd name="adj" fmla="val 1724"/>
            </a:avLst>
          </a:prstGeom>
          <a:solidFill>
            <a:srgbClr val="E6E6E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9" y="264244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5228" y="2585591"/>
            <a:ext cx="28755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Strategic Takeaway: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Target core segments with personalized marketing campaigns to heavily optimize specific demographic revenue streams.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8395"/>
            <a:ext cx="52577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High-Value Discount Users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48086"/>
            <a:ext cx="57105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Customers using discounts while spending above average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94022" y="2382143"/>
            <a:ext cx="4107135" cy="1312962"/>
          </a:xfrm>
          <a:prstGeom prst="roundRect">
            <a:avLst>
              <a:gd name="adj" fmla="val 1620"/>
            </a:avLst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52390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Smart Shoppers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887117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Identified a critical group of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839 unique customer profiles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maximizing promotional codes while maintaining high-ticket baskets.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523902"/>
            <a:ext cx="23905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Strategic Opportunity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88711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Build high-end upsell workflows to offer exclusive premium upgrades to these high-value buyers.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54212"/>
            <a:ext cx="83743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Top-Rated Products By Customer Sentiment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80717"/>
            <a:ext cx="2622724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Gloves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74803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Rating: 3.86 Stars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Exceptional satisfaction score.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280717"/>
            <a:ext cx="2622724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Sandals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748037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Rating: 3.84 Stars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Consistently strong customer feedback.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280717"/>
            <a:ext cx="2622724" cy="1308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Boots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74803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Rating: 3.82 Stars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High category performance tier.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33075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Shipping Preferences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9620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Impact Metrics Comparison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Express Shipping: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$60.48 Average purchase amount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Standard Shipping: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$58.46 Average purchase amount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56620"/>
            <a:ext cx="3902943" cy="1233190"/>
          </a:xfrm>
          <a:prstGeom prst="roundRect">
            <a:avLst>
              <a:gd name="adj" fmla="val 1724"/>
            </a:avLst>
          </a:prstGeom>
          <a:solidFill>
            <a:srgbClr val="E6E6E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1764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119586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Core Takeaway: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Express distribution channels generate higher overall transaction size averages compared to standard delivery methods.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3874"/>
            <a:ext cx="41517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Subscription Impact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1221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$170.4K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354931" y="2436168"/>
            <a:ext cx="2269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Non-Subscriber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4267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Contributed by non-subscribers (73% of user volume count).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791221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$62.6K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42459" y="2436168"/>
            <a:ext cx="18235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Subscriber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74267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Generated by subscription memberships (27% of user volume count).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355777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E6E6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6546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6816" y="353295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Consistent Ticket Sizes: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Both subscriber and non-subscriber cohorts spend an average of roughly $59 per transaction, highlighting volume as the main growth lever.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936"/>
            <a:ext cx="57829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Lifecycle Segmentation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468" y="1044550"/>
            <a:ext cx="1345034" cy="708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6734" y="1367284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330476" y="11685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30476" y="1427485"/>
            <a:ext cx="519343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83 Customers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37458" y="1747019"/>
            <a:ext cx="5379467" cy="7144"/>
          </a:xfrm>
          <a:prstGeom prst="roundRect">
            <a:avLst>
              <a:gd name="adj" fmla="val 260456"/>
            </a:avLst>
          </a:prstGeom>
          <a:solidFill>
            <a:srgbClr val="D6D0D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88" y="1768450"/>
            <a:ext cx="2690068" cy="708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46734" y="2005905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03030" y="18924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03030" y="2151385"/>
            <a:ext cx="45208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701 Customers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10012" y="2470919"/>
            <a:ext cx="4706913" cy="7144"/>
          </a:xfrm>
          <a:prstGeom prst="roundRect">
            <a:avLst>
              <a:gd name="adj" fmla="val 260456"/>
            </a:avLst>
          </a:prstGeom>
          <a:solidFill>
            <a:srgbClr val="D6D0D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34" y="2492350"/>
            <a:ext cx="4035103" cy="708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46734" y="2729805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75510" y="26163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Loyal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75510" y="2875285"/>
            <a:ext cx="38483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3,116 Customers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96119" y="3307333"/>
            <a:ext cx="8151763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Loyal (3,116 Customers):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High-volume, reliable consumers with long-term platform history.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Returning (701 Customers):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Steady repeat shoppers showing strong engagement trends.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New (83 Customers):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First-time buyers requiring strategic immediate outreach.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96119" y="4063380"/>
            <a:ext cx="8151763" cy="640110"/>
          </a:xfrm>
          <a:prstGeom prst="roundRect">
            <a:avLst>
              <a:gd name="adj" fmla="val 2907"/>
            </a:avLst>
          </a:prstGeom>
          <a:solidFill>
            <a:srgbClr val="E6E6E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4238402"/>
            <a:ext cx="155004" cy="1239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9071" y="4202832"/>
            <a:ext cx="7624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Core Goal: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Build robust relational paths that convert "New" arrivals to "Returning" users, and "Returning" users into permanently locked "Loyal" segments.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147"/>
            <a:ext cx="56088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Strategic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93652"/>
            <a:ext cx="4004965" cy="1270471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735410"/>
            <a:ext cx="18174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041922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Launch target incentives aimed directly at the 73% non-subscriber base to grow predictable, recurring subscription streams.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93652"/>
            <a:ext cx="4005039" cy="1270471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735410"/>
            <a:ext cx="25034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Loyalty Programs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041922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 personalized milestones for "Returning" users to increase active customer lifetime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270471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47640"/>
            <a:ext cx="23915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Optimize Discount Policies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54152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Monitor margin guardrails closely around highly discount-dependent product groups like hats and sneakers.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270471"/>
          </a:xfrm>
          <a:prstGeom prst="roundRect">
            <a:avLst>
              <a:gd name="adj" fmla="val 1674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54152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 acquisition and marketing budgets heavily toward high-revenue age brackets (Young Adults / Middle-aged cohorts).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2026-06-25T21:08:02Z</dcterms:created>
  <dcterms:modified xsi:type="dcterms:W3CDTF">2026-06-25T21:08:02Z</dcterms:modified>
</cp:coreProperties>
</file>